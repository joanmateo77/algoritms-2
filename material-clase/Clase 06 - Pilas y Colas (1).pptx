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8229600" cx="14630400"/>
  <p:notesSz cx="8229600" cy="14630400"/>
  <p:embeddedFontLst>
    <p:embeddedFont>
      <p:font typeface="Century Gothic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KmjW1YT95tqXcZgqAy8NtbmDg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CenturyGothic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CenturyGothic-bold.fntdata"/><Relationship Id="rId6" Type="http://schemas.openxmlformats.org/officeDocument/2006/relationships/slide" Target="slides/slide2.xml"/><Relationship Id="rId18" Type="http://schemas.openxmlformats.org/officeDocument/2006/relationships/font" Target="fonts/CenturyGothic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f1804cc52_0_0:notes"/>
          <p:cNvSpPr txBox="1"/>
          <p:nvPr>
            <p:ph idx="1" type="body"/>
          </p:nvPr>
        </p:nvSpPr>
        <p:spPr>
          <a:xfrm>
            <a:off x="822960" y="7040880"/>
            <a:ext cx="6583800" cy="5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/>
          </a:p>
        </p:txBody>
      </p:sp>
      <p:sp>
        <p:nvSpPr>
          <p:cNvPr id="85" name="Google Shape;85;g3cf1804cc52_0_0:notes"/>
          <p:cNvSpPr/>
          <p:nvPr>
            <p:ph idx="2" type="sldImg"/>
          </p:nvPr>
        </p:nvSpPr>
        <p:spPr>
          <a:xfrm>
            <a:off x="822960" y="1828800"/>
            <a:ext cx="6583800" cy="493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f1804cc52_0_85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g3cf1804cc52_0_85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f1804cc52_0_91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cf1804cc52_0_91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f1804cc52_0_97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cf1804cc52_0_97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f1804cc52_0_103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cf1804cc52_0_103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f1804cc52_0_109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cf1804cc52_0_109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f1804cc52_0_115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cf1804cc52_0_115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0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" type="body"/>
          </p:nvPr>
        </p:nvSpPr>
        <p:spPr>
          <a:xfrm>
            <a:off x="811987" y="2397761"/>
            <a:ext cx="5596128" cy="4520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880"/>
              <a:buChar char=" "/>
              <a:defRPr sz="2880"/>
            </a:lvl1pPr>
            <a:lvl2pPr indent="-3810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2pPr>
            <a:lvl3pPr indent="-36576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Char char=" "/>
              <a:defRPr sz="2160"/>
            </a:lvl3pPr>
            <a:lvl4pPr indent="-35052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4pPr>
            <a:lvl5pPr indent="-35052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5pPr>
            <a:lvl6pPr indent="-35052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6pPr>
            <a:lvl7pPr indent="-35052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7pPr>
            <a:lvl8pPr indent="-35052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8pPr>
            <a:lvl9pPr indent="-35052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9pPr>
          </a:lstStyle>
          <a:p/>
        </p:txBody>
      </p:sp>
      <p:sp>
        <p:nvSpPr>
          <p:cNvPr id="15" name="Google Shape;15;p10"/>
          <p:cNvSpPr txBox="1"/>
          <p:nvPr>
            <p:ph idx="2" type="body"/>
          </p:nvPr>
        </p:nvSpPr>
        <p:spPr>
          <a:xfrm>
            <a:off x="7213596" y="2397761"/>
            <a:ext cx="5596128" cy="4520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880"/>
              <a:buChar char=" "/>
              <a:defRPr sz="2880"/>
            </a:lvl1pPr>
            <a:lvl2pPr indent="-3810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2pPr>
            <a:lvl3pPr indent="-36576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Char char=" "/>
              <a:defRPr sz="2160"/>
            </a:lvl3pPr>
            <a:lvl4pPr indent="-35052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4pPr>
            <a:lvl5pPr indent="-35052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5pPr>
            <a:lvl6pPr indent="-35052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6pPr>
            <a:lvl7pPr indent="-35052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7pPr>
            <a:lvl8pPr indent="-35052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8pPr>
            <a:lvl9pPr indent="-35052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9pPr>
          </a:lstStyle>
          <a:p/>
        </p:txBody>
      </p:sp>
      <p:sp>
        <p:nvSpPr>
          <p:cNvPr id="16" name="Google Shape;16;p10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" type="body"/>
          </p:nvPr>
        </p:nvSpPr>
        <p:spPr>
          <a:xfrm>
            <a:off x="811988" y="2414017"/>
            <a:ext cx="12904470" cy="4519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1pPr>
            <a:lvl2pPr indent="-3429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2"/>
          <p:cNvSpPr txBox="1"/>
          <p:nvPr>
            <p:ph type="ctrTitle"/>
          </p:nvPr>
        </p:nvSpPr>
        <p:spPr>
          <a:xfrm>
            <a:off x="724205" y="924560"/>
            <a:ext cx="12938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60"/>
              <a:buFont typeface="Century Gothic"/>
              <a:buNone/>
              <a:defRPr sz="1056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" type="subTitle"/>
          </p:nvPr>
        </p:nvSpPr>
        <p:spPr>
          <a:xfrm>
            <a:off x="801015" y="5048251"/>
            <a:ext cx="11073841" cy="197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chemeClr val="lt1"/>
              </a:buClr>
              <a:buSzPts val="3840"/>
              <a:buNone/>
              <a:defRPr sz="384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3360"/>
              <a:buNone/>
              <a:defRPr sz="3360"/>
            </a:lvl2pPr>
            <a:lvl3pPr lvl="2" algn="ctr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880"/>
              <a:buNone/>
              <a:defRPr sz="2880"/>
            </a:lvl3pPr>
            <a:lvl4pPr lvl="3" algn="ctr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/>
            </a:lvl4pPr>
            <a:lvl5pPr lvl="4" algn="ctr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/>
            </a:lvl5pPr>
            <a:lvl6pPr lvl="5" algn="ctr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/>
            </a:lvl6pPr>
            <a:lvl7pPr lvl="6" algn="ctr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/>
            </a:lvl7pPr>
            <a:lvl8pPr lvl="7" algn="ctr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/>
            </a:lvl8pPr>
            <a:lvl9pPr lvl="8" algn="ctr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12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/>
          <p:nvPr>
            <p:ph type="title"/>
          </p:nvPr>
        </p:nvSpPr>
        <p:spPr>
          <a:xfrm>
            <a:off x="724205" y="920903"/>
            <a:ext cx="12936931" cy="40270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60"/>
              <a:buFont typeface="Century Gothic"/>
              <a:buNone/>
              <a:defRPr b="0" sz="1056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" type="body"/>
          </p:nvPr>
        </p:nvSpPr>
        <p:spPr>
          <a:xfrm>
            <a:off x="801015" y="5045051"/>
            <a:ext cx="11071555" cy="197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3840"/>
              <a:buNone/>
              <a:defRPr sz="384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8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8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8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8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8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8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11987" y="2448560"/>
            <a:ext cx="5596128" cy="86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640"/>
              <a:buNone/>
              <a:defRPr b="0" sz="2640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4pPr>
            <a:lvl5pPr indent="-22860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5pPr>
            <a:lvl6pPr indent="-22860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6pPr>
            <a:lvl7pPr indent="-22860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7pPr>
            <a:lvl8pPr indent="-22860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8pPr>
            <a:lvl9pPr indent="-22860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11987" y="3303701"/>
            <a:ext cx="5596128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880"/>
              <a:buChar char=" "/>
              <a:defRPr sz="2880"/>
            </a:lvl1pPr>
            <a:lvl2pPr indent="-3810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2pPr>
            <a:lvl3pPr indent="-36576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Char char=" "/>
              <a:defRPr sz="2160"/>
            </a:lvl3pPr>
            <a:lvl4pPr indent="-35052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4pPr>
            <a:lvl5pPr indent="-35052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5pPr>
            <a:lvl6pPr indent="-35052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6pPr>
            <a:lvl7pPr indent="-35052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7pPr>
            <a:lvl8pPr indent="-35052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8pPr>
            <a:lvl9pPr indent="-35052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7209130" y="2446122"/>
            <a:ext cx="5596128" cy="866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640"/>
              <a:buNone/>
              <a:defRPr b="0" sz="2640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4pPr>
            <a:lvl5pPr indent="-22860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5pPr>
            <a:lvl6pPr indent="-22860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6pPr>
            <a:lvl7pPr indent="-22860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7pPr>
            <a:lvl8pPr indent="-22860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8pPr>
            <a:lvl9pPr indent="-22860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7209130" y="3301188"/>
            <a:ext cx="5596128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880"/>
              <a:buChar char=" "/>
              <a:defRPr sz="2880"/>
            </a:lvl1pPr>
            <a:lvl2pPr indent="-3810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2pPr>
            <a:lvl3pPr indent="-36576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Char char=" "/>
              <a:defRPr sz="2160"/>
            </a:lvl3pPr>
            <a:lvl4pPr indent="-35052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4pPr>
            <a:lvl5pPr indent="-35052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5pPr>
            <a:lvl6pPr indent="-35052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6pPr>
            <a:lvl7pPr indent="-35052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7pPr>
            <a:lvl8pPr indent="-35052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8pPr>
            <a:lvl9pPr indent="-35052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7"/>
          <p:cNvSpPr txBox="1"/>
          <p:nvPr>
            <p:ph type="title"/>
          </p:nvPr>
        </p:nvSpPr>
        <p:spPr>
          <a:xfrm>
            <a:off x="9913685" y="650738"/>
            <a:ext cx="4059936" cy="23042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entury Gothic"/>
              <a:buNone/>
              <a:defRPr sz="4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" type="body"/>
          </p:nvPr>
        </p:nvSpPr>
        <p:spPr>
          <a:xfrm>
            <a:off x="914400" y="914400"/>
            <a:ext cx="7315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244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3840"/>
              <a:buChar char=" "/>
              <a:defRPr sz="3840"/>
            </a:lvl1pPr>
            <a:lvl2pPr indent="-44196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3360"/>
              <a:buChar char=" "/>
              <a:defRPr sz="3360"/>
            </a:lvl2pPr>
            <a:lvl3pPr indent="-41148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880"/>
              <a:buChar char=" "/>
              <a:defRPr sz="2880"/>
            </a:lvl3pPr>
            <a:lvl4pPr indent="-38100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4pPr>
            <a:lvl5pPr indent="-38100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5pPr>
            <a:lvl6pPr indent="-38100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6pPr>
            <a:lvl7pPr indent="-38100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7pPr>
            <a:lvl8pPr indent="-38100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8pPr>
            <a:lvl9pPr indent="-38100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9pPr>
          </a:lstStyle>
          <a:p/>
        </p:txBody>
      </p:sp>
      <p:sp>
        <p:nvSpPr>
          <p:cNvPr id="60" name="Google Shape;60;p17"/>
          <p:cNvSpPr txBox="1"/>
          <p:nvPr>
            <p:ph idx="2" type="body"/>
          </p:nvPr>
        </p:nvSpPr>
        <p:spPr>
          <a:xfrm>
            <a:off x="9931178" y="3014176"/>
            <a:ext cx="4078224" cy="37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Century Gothic"/>
              <a:buNone/>
              <a:defRPr sz="216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440"/>
              <a:buNone/>
              <a:defRPr sz="1440"/>
            </a:lvl2pPr>
            <a:lvl3pPr indent="-22860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4pPr>
            <a:lvl5pPr indent="-22860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5pPr>
            <a:lvl6pPr indent="-22860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6pPr>
            <a:lvl7pPr indent="-22860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7pPr>
            <a:lvl8pPr indent="-22860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8pPr>
            <a:lvl9pPr indent="-22860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9pPr>
          </a:lstStyle>
          <a:p/>
        </p:txBody>
      </p:sp>
      <p:sp>
        <p:nvSpPr>
          <p:cNvPr id="61" name="Google Shape;61;p17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type="title"/>
          </p:nvPr>
        </p:nvSpPr>
        <p:spPr>
          <a:xfrm>
            <a:off x="779069" y="6502401"/>
            <a:ext cx="12936931" cy="735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40"/>
              <a:buFont typeface="Century Gothic"/>
              <a:buNone/>
              <a:defRPr b="0" sz="384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/>
          <p:nvPr>
            <p:ph idx="2" type="pic"/>
          </p:nvPr>
        </p:nvSpPr>
        <p:spPr>
          <a:xfrm>
            <a:off x="0" y="0"/>
            <a:ext cx="14630400" cy="6397142"/>
          </a:xfrm>
          <a:prstGeom prst="rect">
            <a:avLst/>
          </a:prstGeom>
          <a:solidFill>
            <a:srgbClr val="B7E0E9"/>
          </a:solidFill>
          <a:ln>
            <a:noFill/>
          </a:ln>
        </p:spPr>
      </p:sp>
      <p:sp>
        <p:nvSpPr>
          <p:cNvPr id="67" name="Google Shape;67;p18"/>
          <p:cNvSpPr txBox="1"/>
          <p:nvPr>
            <p:ph idx="1" type="body"/>
          </p:nvPr>
        </p:nvSpPr>
        <p:spPr>
          <a:xfrm>
            <a:off x="811987" y="7091682"/>
            <a:ext cx="1107521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680"/>
              <a:buNone/>
              <a:defRPr sz="168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440"/>
              <a:buNone/>
              <a:defRPr sz="1440"/>
            </a:lvl2pPr>
            <a:lvl3pPr indent="-22860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4pPr>
            <a:lvl5pPr indent="-22860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5pPr>
            <a:lvl6pPr indent="-22860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6pPr>
            <a:lvl7pPr indent="-22860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7pPr>
            <a:lvl8pPr indent="-22860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8pPr>
            <a:lvl9pPr indent="-22860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9pPr>
          </a:lstStyle>
          <a:p/>
        </p:txBody>
      </p:sp>
      <p:sp>
        <p:nvSpPr>
          <p:cNvPr id="68" name="Google Shape;68;p18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b="0" sz="1236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" type="body"/>
          </p:nvPr>
        </p:nvSpPr>
        <p:spPr>
          <a:xfrm rot="5400000">
            <a:off x="5004512" y="-1778507"/>
            <a:ext cx="4519422" cy="129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1pPr>
            <a:lvl2pPr indent="-3429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 rot="5400000">
            <a:off x="9189720" y="2137410"/>
            <a:ext cx="576072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" type="body"/>
          </p:nvPr>
        </p:nvSpPr>
        <p:spPr>
          <a:xfrm rot="5400000">
            <a:off x="2326005" y="-542924"/>
            <a:ext cx="6480810" cy="928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1pPr>
            <a:lvl2pPr indent="-3429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80"/>
              <a:buFont typeface="Century Gothic"/>
              <a:buNone/>
              <a:defRPr b="0" i="0" sz="648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11988" y="2414017"/>
            <a:ext cx="12904470" cy="4519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marR="0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880"/>
              <a:buFont typeface="Arial"/>
              <a:buChar char=" "/>
              <a:defRPr b="0" i="0" sz="288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11480" lvl="1" marL="914400" marR="0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880"/>
              <a:buFont typeface="Arial"/>
              <a:buChar char=" "/>
              <a:defRPr b="0" i="0" sz="288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81000" lvl="2" marL="1371600" marR="0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 "/>
              <a:defRPr b="0" i="1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65760" lvl="3" marL="1828800" marR="0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Arial"/>
              <a:buChar char=" "/>
              <a:defRPr b="0" i="0" sz="216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65760" lvl="4" marL="2286000" marR="0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Arial"/>
              <a:buChar char=" "/>
              <a:defRPr b="0" i="0" sz="216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65760" lvl="5" marL="2743200" marR="0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Arial"/>
              <a:buChar char=" "/>
              <a:defRPr b="0" i="0" sz="216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65760" lvl="6" marL="3200400" marR="0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Arial"/>
              <a:buChar char=" "/>
              <a:defRPr b="0" i="0" sz="216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65760" lvl="7" marL="3657600" marR="0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Arial"/>
              <a:buChar char=" "/>
              <a:defRPr b="0" i="0" sz="216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65760" lvl="8" marL="4114800" marR="0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Arial"/>
              <a:buChar char=" "/>
              <a:defRPr b="0" i="0" sz="216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4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4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arrollo móvil: cómo funciona el mercado - beecrowd" id="87" name="Google Shape;87;g3cf1804cc52_0_0"/>
          <p:cNvPicPr preferRelativeResize="0"/>
          <p:nvPr/>
        </p:nvPicPr>
        <p:blipFill rotWithShape="1">
          <a:blip r:embed="rId3">
            <a:alphaModFix/>
          </a:blip>
          <a:srcRect b="19897" l="0" r="0" t="5107"/>
          <a:stretch/>
        </p:blipFill>
        <p:spPr>
          <a:xfrm>
            <a:off x="0" y="1"/>
            <a:ext cx="14630398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cf1804cc52_0_0"/>
          <p:cNvSpPr/>
          <p:nvPr/>
        </p:nvSpPr>
        <p:spPr>
          <a:xfrm>
            <a:off x="5602250" y="3851910"/>
            <a:ext cx="9028200" cy="2766300"/>
          </a:xfrm>
          <a:prstGeom prst="rect">
            <a:avLst/>
          </a:prstGeom>
          <a:solidFill>
            <a:srgbClr val="0C0C0C">
              <a:alpha val="49800"/>
            </a:srgbClr>
          </a:solidFill>
          <a:ln>
            <a:noFill/>
          </a:ln>
        </p:spPr>
        <p:txBody>
          <a:bodyPr anchorCtr="0" anchor="ctr" bIns="54850" lIns="109700" spcFirstLastPara="1" rIns="10970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" name="Google Shape;89;g3cf1804cc52_0_0"/>
          <p:cNvSpPr txBox="1"/>
          <p:nvPr>
            <p:ph type="title"/>
          </p:nvPr>
        </p:nvSpPr>
        <p:spPr>
          <a:xfrm>
            <a:off x="5982620" y="4010033"/>
            <a:ext cx="77649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b" bIns="54850" lIns="109700" spcFirstLastPara="1" rIns="109700" wrap="square" tIns="548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entury Gothic"/>
              <a:buNone/>
            </a:pPr>
            <a:r>
              <a:rPr lang="en-US" sz="3800">
                <a:solidFill>
                  <a:schemeClr val="lt1"/>
                </a:solidFill>
              </a:rPr>
              <a:t>Estructuras de Datos II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0" name="Google Shape;90;g3cf1804cc52_0_0"/>
          <p:cNvSpPr txBox="1"/>
          <p:nvPr>
            <p:ph idx="1" type="body"/>
          </p:nvPr>
        </p:nvSpPr>
        <p:spPr>
          <a:xfrm>
            <a:off x="5982619" y="5592390"/>
            <a:ext cx="81771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109700" spcFirstLastPara="1" rIns="109700" wrap="square" tIns="5485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</a:pPr>
            <a:r>
              <a:rPr lang="en-US" sz="19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JONATHAN LÓPEZ LONDOÑO</a:t>
            </a:r>
            <a:br>
              <a:rPr lang="en-US" sz="19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9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JLOPEZL@UAO.EDU.CO</a:t>
            </a:r>
            <a:br>
              <a:rPr lang="en-US" sz="19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9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315 926 5443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788669" y="599439"/>
            <a:ext cx="7835786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entury Gothic"/>
              <a:buNone/>
            </a:pPr>
            <a:r>
              <a:rPr lang="en-US" sz="5400"/>
              <a:t>Stacks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964387" y="2550161"/>
            <a:ext cx="6174168" cy="4520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52400" lvl="0" marL="10972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 "/>
            </a:pPr>
            <a:r>
              <a:rPr lang="en-US" sz="24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common example about stacks in programming is:</a:t>
            </a:r>
            <a:endParaRPr/>
          </a:p>
          <a:p>
            <a:pPr indent="0" lvl="0" marL="109728" marR="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52400" lvl="0" marL="109728" marR="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 "/>
            </a:pPr>
            <a:r>
              <a:rPr lang="en-US" sz="24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Imagine that you have a stack of dinner plates to wash after you have dined with your family, and you are responsible to wash this stack of plates.</a:t>
            </a:r>
            <a:endParaRPr/>
          </a:p>
          <a:p>
            <a:pPr indent="0" lvl="0" marL="109728" marR="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52400" lvl="0" marL="109728" marR="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 "/>
            </a:pPr>
            <a:r>
              <a:rPr lang="en-US" sz="24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How would you start it?</a:t>
            </a:r>
            <a:endParaRPr/>
          </a:p>
          <a:p>
            <a:pPr indent="-152400" lvl="0" marL="109728" marR="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 "/>
            </a:pPr>
            <a:r>
              <a:rPr lang="en-US" sz="24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Well, the obvious answer is from the top</a:t>
            </a:r>
            <a:endParaRPr sz="2400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4302" y="1268303"/>
            <a:ext cx="5680212" cy="5692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Century Gothic"/>
              <a:buNone/>
            </a:pPr>
            <a:r>
              <a:rPr lang="en-US"/>
              <a:t>Stacks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811987" y="2397761"/>
            <a:ext cx="5596128" cy="4520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2400" lvl="0" marL="10972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✔"/>
            </a:pPr>
            <a:r>
              <a:rPr lang="en-US" sz="2400"/>
              <a:t> A structure of sequential and ordered elements.</a:t>
            </a:r>
            <a:endParaRPr/>
          </a:p>
          <a:p>
            <a:pPr indent="-152400" lvl="0" marL="109728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✔"/>
            </a:pPr>
            <a:r>
              <a:rPr lang="en-US" sz="2400"/>
              <a:t> Is based on the principle of last in first out (LIFO). Always the last element that we add, will be the first that we take out</a:t>
            </a:r>
            <a:endParaRPr sz="2400"/>
          </a:p>
        </p:txBody>
      </p:sp>
      <p:pic>
        <p:nvPicPr>
          <p:cNvPr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2287" y="1903378"/>
            <a:ext cx="4456090" cy="4422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Century Gothic"/>
              <a:buNone/>
            </a:pPr>
            <a:r>
              <a:rPr lang="en-US"/>
              <a:t>Using Stacks</a:t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811985" y="2397761"/>
            <a:ext cx="6700641" cy="52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109728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Noto Sans Symbols"/>
              <a:buChar char="✔"/>
            </a:pPr>
            <a:r>
              <a:rPr lang="en-US" sz="2000"/>
              <a:t> The history of Web browsers. Each new page that we visit is mounted on top of the previous one and they generate a stack of records, on which we can go back one by one.</a:t>
            </a:r>
            <a:endParaRPr/>
          </a:p>
          <a:p>
            <a:pPr indent="-127000" lvl="0" marL="109728" rtl="0" algn="l">
              <a:lnSpc>
                <a:spcPct val="12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Noto Sans Symbols"/>
              <a:buChar char="✔"/>
            </a:pPr>
            <a:r>
              <a:rPr lang="en-US" sz="2000"/>
              <a:t> Stacks are useful when we need a data structure that we will end up displaying chronologically from most to least recent (such as a list of the latest tweets or articles). In this case, the most recently entered data is the first one that we will retrieve and display.</a:t>
            </a:r>
            <a:endParaRPr sz="2000"/>
          </a:p>
        </p:txBody>
      </p:sp>
      <p:pic>
        <p:nvPicPr>
          <p:cNvPr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1892" y="3119881"/>
            <a:ext cx="5544107" cy="1989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Century Gothic"/>
              <a:buNone/>
            </a:pPr>
            <a:r>
              <a:rPr lang="en-US"/>
              <a:t>Stacks Methods</a:t>
            </a:r>
            <a:endParaRPr/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811987" y="2397760"/>
            <a:ext cx="8103414" cy="52054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4300" lvl="0" marL="10972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</a:pPr>
            <a:r>
              <a:rPr lang="en-US" sz="1800"/>
              <a:t>A stack must have methods that allow adding new elements, removing them and reviewing them (one or more).</a:t>
            </a:r>
            <a:endParaRPr/>
          </a:p>
          <a:p>
            <a:pPr indent="-114300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</a:pPr>
            <a:r>
              <a:rPr lang="en-US" sz="1800"/>
              <a:t>We can make our own implementation and call these methods in any way.</a:t>
            </a:r>
            <a:endParaRPr/>
          </a:p>
          <a:p>
            <a:pPr indent="-114300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</a:pPr>
            <a:r>
              <a:rPr lang="en-US" sz="1800"/>
              <a:t>There is an agreed convention of using the following definitions:</a:t>
            </a:r>
            <a:endParaRPr/>
          </a:p>
          <a:p>
            <a:pPr indent="-114300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✔"/>
            </a:pPr>
            <a:r>
              <a:rPr lang="en-US" sz="1800"/>
              <a:t> </a:t>
            </a:r>
            <a:r>
              <a:rPr b="1" lang="en-US" sz="1800"/>
              <a:t>push</a:t>
            </a:r>
            <a:r>
              <a:rPr lang="en-US" sz="1800"/>
              <a:t>: Adds a new value to the stack, placing it at the bottom of it.</a:t>
            </a:r>
            <a:endParaRPr/>
          </a:p>
          <a:p>
            <a:pPr indent="-114300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✔"/>
            </a:pPr>
            <a:r>
              <a:rPr lang="en-US" sz="1800"/>
              <a:t> </a:t>
            </a:r>
            <a:r>
              <a:rPr b="1" lang="en-US" sz="1800"/>
              <a:t>pop</a:t>
            </a:r>
            <a:r>
              <a:rPr lang="en-US" sz="1800"/>
              <a:t>: Returns the last value entered on the stack, popping it off the stack.</a:t>
            </a:r>
            <a:endParaRPr/>
          </a:p>
          <a:p>
            <a:pPr indent="-114300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✔"/>
            </a:pPr>
            <a:r>
              <a:rPr lang="en-US" sz="1800"/>
              <a:t> </a:t>
            </a:r>
            <a:r>
              <a:rPr b="1" lang="en-US" sz="1800"/>
              <a:t>peek</a:t>
            </a:r>
            <a:r>
              <a:rPr lang="en-US" sz="1800"/>
              <a:t>: Returns the last value entered on the stack, without removing it from it.</a:t>
            </a:r>
            <a:endParaRPr/>
          </a:p>
          <a:p>
            <a:pPr indent="-114300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✔"/>
            </a:pPr>
            <a:r>
              <a:rPr lang="en-US" sz="1800"/>
              <a:t> </a:t>
            </a:r>
            <a:r>
              <a:rPr b="1" lang="en-US" sz="1800"/>
              <a:t>isEmpty</a:t>
            </a:r>
            <a:r>
              <a:rPr lang="en-US" sz="1800"/>
              <a:t>: Returns true if the stack is empty.</a:t>
            </a:r>
            <a:endParaRPr/>
          </a:p>
          <a:p>
            <a:pPr indent="-114300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✔"/>
            </a:pPr>
            <a:r>
              <a:rPr lang="en-US" sz="1800"/>
              <a:t> </a:t>
            </a:r>
            <a:r>
              <a:rPr b="1" lang="en-US" sz="1800"/>
              <a:t>size</a:t>
            </a:r>
            <a:r>
              <a:rPr lang="en-US" sz="1800"/>
              <a:t>: Returns the number of elements in the stack.</a:t>
            </a:r>
            <a:endParaRPr/>
          </a:p>
          <a:p>
            <a:pPr indent="-114300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✔"/>
            </a:pPr>
            <a:r>
              <a:rPr lang="en-US" sz="1800"/>
              <a:t> </a:t>
            </a:r>
            <a:r>
              <a:rPr b="1" lang="en-US" sz="1800"/>
              <a:t>print:</a:t>
            </a:r>
            <a:r>
              <a:rPr lang="en-US" sz="1800"/>
              <a:t> Prints the contents of the stack.</a:t>
            </a:r>
            <a:endParaRPr sz="1800"/>
          </a:p>
        </p:txBody>
      </p:sp>
      <p:pic>
        <p:nvPicPr>
          <p:cNvPr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4257" y="2668344"/>
            <a:ext cx="5124564" cy="4664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788669" y="599439"/>
            <a:ext cx="7809900" cy="19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Century Gothic"/>
              <a:buNone/>
            </a:pPr>
            <a:r>
              <a:rPr lang="en-US"/>
              <a:t>How to implement Stacks?</a:t>
            </a:r>
            <a:endParaRPr/>
          </a:p>
        </p:txBody>
      </p:sp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811987" y="2589277"/>
            <a:ext cx="6503214" cy="4520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10972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</a:pPr>
            <a:r>
              <a:rPr b="1" lang="en-US" sz="2000"/>
              <a:t>Peek</a:t>
            </a:r>
            <a:r>
              <a:rPr lang="en-US" sz="2000"/>
              <a:t> is the only one method we need to implement, the others come from Prototype in JavaScript</a:t>
            </a:r>
            <a:endParaRPr sz="2000"/>
          </a:p>
        </p:txBody>
      </p:sp>
      <p:pic>
        <p:nvPicPr>
          <p:cNvPr id="125" name="Google Shape;1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6795" y="262609"/>
            <a:ext cx="6007822" cy="7704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entury Gothic"/>
              <a:buNone/>
            </a:pPr>
            <a:r>
              <a:rPr lang="en-US" sz="5800"/>
              <a:t>CHALLENGE 04</a:t>
            </a:r>
            <a:endParaRPr sz="6280"/>
          </a:p>
        </p:txBody>
      </p:sp>
      <p:sp>
        <p:nvSpPr>
          <p:cNvPr id="131" name="Google Shape;131;p7"/>
          <p:cNvSpPr txBox="1"/>
          <p:nvPr>
            <p:ph idx="1" type="body"/>
          </p:nvPr>
        </p:nvSpPr>
        <p:spPr>
          <a:xfrm>
            <a:off x="811988" y="2414017"/>
            <a:ext cx="5432948" cy="4519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AutoNum type="arabicPeriod"/>
            </a:pPr>
            <a:r>
              <a:rPr lang="en-US" sz="2000"/>
              <a:t>Create and handle new stack of books. Every book must have its Name, ISBN, Author and Editorial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AutoNum type="arabicPeriod"/>
            </a:pPr>
            <a:r>
              <a:rPr lang="en-US" sz="2000"/>
              <a:t>Fill the stack with some mock data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AutoNum type="arabicPeriod"/>
            </a:pPr>
            <a:r>
              <a:rPr lang="en-US" sz="2000"/>
              <a:t>Create a new project in react, and implements a new screen with a form to create a new book, then add the book to the stack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AutoNum type="arabicPeriod"/>
            </a:pPr>
            <a:r>
              <a:rPr lang="en-US" sz="2000"/>
              <a:t>Print the books stack in screen</a:t>
            </a:r>
            <a:endParaRPr/>
          </a:p>
        </p:txBody>
      </p:sp>
      <p:pic>
        <p:nvPicPr>
          <p:cNvPr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9841" y="1"/>
            <a:ext cx="821056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f1804cc52_0_85"/>
          <p:cNvSpPr txBox="1"/>
          <p:nvPr>
            <p:ph type="title"/>
          </p:nvPr>
        </p:nvSpPr>
        <p:spPr>
          <a:xfrm>
            <a:off x="788669" y="599439"/>
            <a:ext cx="7835700" cy="19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entury Gothic"/>
              <a:buNone/>
            </a:pPr>
            <a:r>
              <a:rPr lang="en-US" sz="5400"/>
              <a:t>Queues</a:t>
            </a:r>
            <a:endParaRPr/>
          </a:p>
        </p:txBody>
      </p:sp>
      <p:sp>
        <p:nvSpPr>
          <p:cNvPr id="138" name="Google Shape;138;g3cf1804cc52_0_85"/>
          <p:cNvSpPr txBox="1"/>
          <p:nvPr/>
        </p:nvSpPr>
        <p:spPr>
          <a:xfrm>
            <a:off x="964387" y="2550161"/>
            <a:ext cx="6174300" cy="4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common example about queues in programming is: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Imagine that we have a line of people to enter a specific restaurant.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9728" lvl="0" marL="109728" marR="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The last person to get in the line will be the last person to enter the restaurant, depending on the size of the line.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9728" lvl="0" marL="109728" marR="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The first person that got into line will be the first person to enter the restaurant.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g3cf1804cc52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2472" y="1030152"/>
            <a:ext cx="5133541" cy="6169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f1804cc52_0_91"/>
          <p:cNvSpPr txBox="1"/>
          <p:nvPr>
            <p:ph type="title"/>
          </p:nvPr>
        </p:nvSpPr>
        <p:spPr>
          <a:xfrm>
            <a:off x="788669" y="599439"/>
            <a:ext cx="12927300" cy="19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600"/>
              <a:buFont typeface="Century Gothic"/>
              <a:buNone/>
            </a:pPr>
            <a:r>
              <a:rPr lang="en-US" sz="6600"/>
              <a:t>Queues</a:t>
            </a:r>
            <a:endParaRPr/>
          </a:p>
        </p:txBody>
      </p:sp>
      <p:sp>
        <p:nvSpPr>
          <p:cNvPr id="145" name="Google Shape;145;g3cf1804cc52_0_91"/>
          <p:cNvSpPr txBox="1"/>
          <p:nvPr>
            <p:ph idx="1" type="body"/>
          </p:nvPr>
        </p:nvSpPr>
        <p:spPr>
          <a:xfrm>
            <a:off x="811987" y="2397761"/>
            <a:ext cx="5596200" cy="4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972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 structure of sequential and ordered elements.</a:t>
            </a:r>
            <a:endParaRPr/>
          </a:p>
          <a:p>
            <a:pPr indent="0" lvl="0" marL="109728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None/>
            </a:pPr>
            <a:r>
              <a:rPr lang="en-US" sz="2400"/>
              <a:t>Is based on the principle of </a:t>
            </a:r>
            <a:r>
              <a:rPr lang="en-US" sz="2400"/>
              <a:t>first</a:t>
            </a:r>
            <a:r>
              <a:rPr lang="en-US" sz="2400"/>
              <a:t> in first out (FIFO). Always the first element that we add, will be the first that we take out</a:t>
            </a:r>
            <a:endParaRPr sz="2400"/>
          </a:p>
        </p:txBody>
      </p:sp>
      <p:pic>
        <p:nvPicPr>
          <p:cNvPr id="146" name="Google Shape;146;g3cf1804cc52_0_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7182" y="1961744"/>
            <a:ext cx="4378818" cy="4306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f1804cc52_0_97"/>
          <p:cNvSpPr txBox="1"/>
          <p:nvPr>
            <p:ph type="title"/>
          </p:nvPr>
        </p:nvSpPr>
        <p:spPr>
          <a:xfrm>
            <a:off x="788669" y="599439"/>
            <a:ext cx="12927300" cy="19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entury Gothic"/>
              <a:buNone/>
            </a:pPr>
            <a:r>
              <a:rPr lang="en-US" sz="6000"/>
              <a:t>Using Queues</a:t>
            </a:r>
            <a:endParaRPr/>
          </a:p>
        </p:txBody>
      </p:sp>
      <p:sp>
        <p:nvSpPr>
          <p:cNvPr id="152" name="Google Shape;152;g3cf1804cc52_0_97"/>
          <p:cNvSpPr txBox="1"/>
          <p:nvPr>
            <p:ph idx="1" type="body"/>
          </p:nvPr>
        </p:nvSpPr>
        <p:spPr>
          <a:xfrm>
            <a:off x="811985" y="2397761"/>
            <a:ext cx="6700500" cy="52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9728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 most common uses of queues today are present in tools and processes that we see every day: task or job queues, such as messaging queues.</a:t>
            </a:r>
            <a:endParaRPr/>
          </a:p>
          <a:p>
            <a:pPr indent="0" lvl="0" marL="109728" rtl="0" algn="l">
              <a:lnSpc>
                <a:spcPct val="120000"/>
              </a:lnSpc>
              <a:spcBef>
                <a:spcPts val="1560"/>
              </a:spcBef>
              <a:spcAft>
                <a:spcPts val="0"/>
              </a:spcAft>
              <a:buNone/>
            </a:pPr>
            <a:r>
              <a:rPr lang="en-US" sz="2000"/>
              <a:t>In these cases, it is necessary that the first data to enter is the first to leave and is ordered chronologically and in order of arrival.</a:t>
            </a:r>
            <a:endParaRPr sz="2000"/>
          </a:p>
        </p:txBody>
      </p:sp>
      <p:pic>
        <p:nvPicPr>
          <p:cNvPr id="153" name="Google Shape;153;g3cf1804cc52_0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7818" y="2397761"/>
            <a:ext cx="4713668" cy="457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f1804cc52_0_103"/>
          <p:cNvSpPr txBox="1"/>
          <p:nvPr>
            <p:ph type="title"/>
          </p:nvPr>
        </p:nvSpPr>
        <p:spPr>
          <a:xfrm>
            <a:off x="788669" y="599439"/>
            <a:ext cx="12927300" cy="19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Century Gothic"/>
              <a:buNone/>
            </a:pPr>
            <a:r>
              <a:rPr lang="en-US"/>
              <a:t>Queues Methods</a:t>
            </a:r>
            <a:endParaRPr/>
          </a:p>
        </p:txBody>
      </p:sp>
      <p:sp>
        <p:nvSpPr>
          <p:cNvPr id="159" name="Google Shape;159;g3cf1804cc52_0_103"/>
          <p:cNvSpPr txBox="1"/>
          <p:nvPr>
            <p:ph idx="1" type="body"/>
          </p:nvPr>
        </p:nvSpPr>
        <p:spPr>
          <a:xfrm>
            <a:off x="811987" y="2397761"/>
            <a:ext cx="8228100" cy="52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9728" lvl="0" marL="10972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</a:pPr>
            <a:r>
              <a:rPr lang="en-US" sz="1800"/>
              <a:t>A Queue must have methods that allow adding new elements, removing them and reviewing them (one or more).</a:t>
            </a:r>
            <a:endParaRPr/>
          </a:p>
          <a:p>
            <a:pPr indent="-109728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</a:pPr>
            <a:r>
              <a:rPr lang="en-US" sz="1800"/>
              <a:t>We can make our own implementation and call these methods in any way.</a:t>
            </a:r>
            <a:endParaRPr/>
          </a:p>
          <a:p>
            <a:pPr indent="-109728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</a:pPr>
            <a:r>
              <a:rPr lang="en-US" sz="1800"/>
              <a:t>There is an agreed convention of using the following definitions:</a:t>
            </a:r>
            <a:endParaRPr/>
          </a:p>
          <a:p>
            <a:pPr indent="-109728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✔"/>
            </a:pPr>
            <a:r>
              <a:rPr lang="en-US" sz="1800"/>
              <a:t> </a:t>
            </a:r>
            <a:r>
              <a:rPr b="1" lang="en-US" sz="1800"/>
              <a:t>enqueue</a:t>
            </a:r>
            <a:r>
              <a:rPr lang="en-US" sz="1800"/>
              <a:t>: Adds a new element to the queue, placing it at the end of it.</a:t>
            </a:r>
            <a:endParaRPr/>
          </a:p>
          <a:p>
            <a:pPr indent="-109728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✔"/>
            </a:pPr>
            <a:r>
              <a:rPr lang="en-US" sz="1800"/>
              <a:t> </a:t>
            </a:r>
            <a:r>
              <a:rPr b="1" lang="en-US" sz="1800"/>
              <a:t>dequeue</a:t>
            </a:r>
            <a:r>
              <a:rPr lang="en-US" sz="1800"/>
              <a:t>: Returns the first element of the queue, removing it from the queue.</a:t>
            </a:r>
            <a:endParaRPr/>
          </a:p>
          <a:p>
            <a:pPr indent="-109728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✔"/>
            </a:pPr>
            <a:r>
              <a:rPr lang="en-US" sz="1800"/>
              <a:t> </a:t>
            </a:r>
            <a:r>
              <a:rPr b="1" lang="en-US" sz="1800"/>
              <a:t>peek</a:t>
            </a:r>
            <a:r>
              <a:rPr lang="en-US" sz="1800"/>
              <a:t>: Returns the first element of the queue, without removing it from the queue.</a:t>
            </a:r>
            <a:endParaRPr/>
          </a:p>
          <a:p>
            <a:pPr indent="-109728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✔"/>
            </a:pPr>
            <a:r>
              <a:rPr lang="en-US" sz="1800"/>
              <a:t> </a:t>
            </a:r>
            <a:r>
              <a:rPr b="1" lang="en-US" sz="1800"/>
              <a:t>size</a:t>
            </a:r>
            <a:r>
              <a:rPr lang="en-US" sz="1800"/>
              <a:t>: Returns the number of elements in the queue.</a:t>
            </a:r>
            <a:endParaRPr/>
          </a:p>
          <a:p>
            <a:pPr indent="-109728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✔"/>
            </a:pPr>
            <a:r>
              <a:rPr lang="en-US" sz="1800"/>
              <a:t> </a:t>
            </a:r>
            <a:r>
              <a:rPr b="1" lang="en-US" sz="1800"/>
              <a:t>isEmpty</a:t>
            </a:r>
            <a:r>
              <a:rPr lang="en-US" sz="1800"/>
              <a:t>: Returns true if the queue is empty.</a:t>
            </a:r>
            <a:endParaRPr/>
          </a:p>
          <a:p>
            <a:pPr indent="-109728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✔"/>
            </a:pPr>
            <a:r>
              <a:rPr lang="en-US" sz="1800"/>
              <a:t> </a:t>
            </a:r>
            <a:r>
              <a:rPr b="1" lang="en-US" sz="1800"/>
              <a:t>print</a:t>
            </a:r>
            <a:r>
              <a:rPr lang="en-US" sz="1800"/>
              <a:t>: Prints the contents of the queue.</a:t>
            </a:r>
            <a:endParaRPr sz="1800"/>
          </a:p>
        </p:txBody>
      </p:sp>
      <p:pic>
        <p:nvPicPr>
          <p:cNvPr id="160" name="Google Shape;160;g3cf1804cc52_0_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06744" y="3195206"/>
            <a:ext cx="4972602" cy="3408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f1804cc52_0_109"/>
          <p:cNvSpPr txBox="1"/>
          <p:nvPr>
            <p:ph type="title"/>
          </p:nvPr>
        </p:nvSpPr>
        <p:spPr>
          <a:xfrm>
            <a:off x="788669" y="599439"/>
            <a:ext cx="7809900" cy="19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Century Gothic"/>
              <a:buNone/>
            </a:pPr>
            <a:r>
              <a:rPr lang="en-US"/>
              <a:t>How to implement Queues?</a:t>
            </a:r>
            <a:endParaRPr/>
          </a:p>
        </p:txBody>
      </p:sp>
      <p:sp>
        <p:nvSpPr>
          <p:cNvPr id="166" name="Google Shape;166;g3cf1804cc52_0_109"/>
          <p:cNvSpPr txBox="1"/>
          <p:nvPr>
            <p:ph idx="1" type="body"/>
          </p:nvPr>
        </p:nvSpPr>
        <p:spPr>
          <a:xfrm>
            <a:off x="811987" y="2589277"/>
            <a:ext cx="6503100" cy="4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9728" lvl="0" marL="10972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</a:pPr>
            <a:r>
              <a:rPr b="1" lang="en-US" sz="2000"/>
              <a:t>Peek</a:t>
            </a:r>
            <a:r>
              <a:rPr lang="en-US" sz="2000"/>
              <a:t> is the only one method we need to implement, the others come from Prototype in JavaScript</a:t>
            </a:r>
            <a:endParaRPr sz="2000"/>
          </a:p>
        </p:txBody>
      </p:sp>
      <p:pic>
        <p:nvPicPr>
          <p:cNvPr id="167" name="Google Shape;167;g3cf1804cc52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7162" y="289796"/>
            <a:ext cx="4864570" cy="7650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f1804cc52_0_115"/>
          <p:cNvSpPr txBox="1"/>
          <p:nvPr>
            <p:ph type="title"/>
          </p:nvPr>
        </p:nvSpPr>
        <p:spPr>
          <a:xfrm>
            <a:off x="788669" y="599439"/>
            <a:ext cx="12927300" cy="19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entury Gothic"/>
              <a:buNone/>
            </a:pPr>
            <a:r>
              <a:rPr lang="en-US" sz="5800"/>
              <a:t>CHALLENGE 05</a:t>
            </a:r>
            <a:endParaRPr sz="6280"/>
          </a:p>
        </p:txBody>
      </p:sp>
      <p:sp>
        <p:nvSpPr>
          <p:cNvPr id="173" name="Google Shape;173;g3cf1804cc52_0_115"/>
          <p:cNvSpPr txBox="1"/>
          <p:nvPr>
            <p:ph idx="1" type="body"/>
          </p:nvPr>
        </p:nvSpPr>
        <p:spPr>
          <a:xfrm>
            <a:off x="788663" y="2384592"/>
            <a:ext cx="5433000" cy="45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AutoNum type="arabicPeriod"/>
            </a:pPr>
            <a:r>
              <a:rPr lang="en-US" sz="2000"/>
              <a:t>Create and handle new queue of people in one ATM. Every person in the ATM must have its name, withdrawal amount and a random arrival date assigned by the system.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AutoNum type="arabicPeriod"/>
            </a:pPr>
            <a:r>
              <a:rPr lang="en-US" sz="2000"/>
              <a:t>Fill the queue with some mock data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AutoNum type="arabicPeriod"/>
            </a:pPr>
            <a:r>
              <a:rPr lang="en-US" sz="2000"/>
              <a:t>Create a new project in react, and implements a new screen with a form to create a new person, then add the person to the queue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AutoNum type="arabicPeriod"/>
            </a:pPr>
            <a:r>
              <a:rPr lang="en-US" sz="2000"/>
              <a:t>Print the queue in screen according to the arrival date</a:t>
            </a:r>
            <a:endParaRPr/>
          </a:p>
        </p:txBody>
      </p:sp>
      <p:pic>
        <p:nvPicPr>
          <p:cNvPr id="174" name="Google Shape;174;g3cf1804cc52_0_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9841" y="1"/>
            <a:ext cx="8210561" cy="822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tropolitano">
  <a:themeElements>
    <a:clrScheme name="Metropolitano">
      <a:dk1>
        <a:srgbClr val="000000"/>
      </a:dk1>
      <a:lt1>
        <a:srgbClr val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2025-01-30T02:43:37Z</dcterms:created>
  <dc:creator>PptxGenJS</dc:creator>
</cp:coreProperties>
</file>